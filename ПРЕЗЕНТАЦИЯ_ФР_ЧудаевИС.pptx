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2" r:id="rId9"/>
    <p:sldId id="263" r:id="rId10"/>
    <p:sldId id="264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howGuides="1">
      <p:cViewPr varScale="1">
        <p:scale>
          <a:sx n="138" d="100"/>
          <a:sy n="138" d="100"/>
        </p:scale>
        <p:origin x="1008" y="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5309"/>
            <a:ext cx="73152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79484" y="4885432"/>
            <a:ext cx="39624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028950" y="642938"/>
            <a:ext cx="3086100" cy="17367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6DC3D-C717-495C-B489-C044A339A55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964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B7B7B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B7B7B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B7B7B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B7B7B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00" y="106197"/>
            <a:ext cx="547116" cy="5470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0648" y="243966"/>
            <a:ext cx="131826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B7B7B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6633" y="819657"/>
            <a:ext cx="6720205" cy="1741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77909" y="4751406"/>
            <a:ext cx="217804" cy="29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5848" y="175768"/>
            <a:ext cx="892175" cy="10064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885950" y="2304795"/>
            <a:ext cx="5600700" cy="40005"/>
          </a:xfrm>
          <a:custGeom>
            <a:avLst/>
            <a:gdLst/>
            <a:ahLst/>
            <a:cxnLst/>
            <a:rect l="l" t="t" r="r" b="b"/>
            <a:pathLst>
              <a:path w="5600700" h="40005">
                <a:moveTo>
                  <a:pt x="5600700" y="25400"/>
                </a:moveTo>
                <a:lnTo>
                  <a:pt x="0" y="26924"/>
                </a:lnTo>
                <a:lnTo>
                  <a:pt x="0" y="39624"/>
                </a:lnTo>
                <a:lnTo>
                  <a:pt x="5600700" y="38100"/>
                </a:lnTo>
                <a:lnTo>
                  <a:pt x="5600700" y="25400"/>
                </a:lnTo>
                <a:close/>
              </a:path>
              <a:path w="5600700" h="40005">
                <a:moveTo>
                  <a:pt x="5600700" y="0"/>
                </a:moveTo>
                <a:lnTo>
                  <a:pt x="0" y="1524"/>
                </a:lnTo>
                <a:lnTo>
                  <a:pt x="0" y="14224"/>
                </a:lnTo>
                <a:lnTo>
                  <a:pt x="5600700" y="12700"/>
                </a:lnTo>
                <a:lnTo>
                  <a:pt x="5600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3098" y="2344800"/>
            <a:ext cx="8940902" cy="255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Институт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информационных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технологий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(ИТ)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  <a:p>
            <a:pPr marL="182880" algn="ct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Кафедра</a:t>
            </a:r>
            <a:r>
              <a:rPr sz="12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инструментального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и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прикладного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программного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обеспечения</a:t>
            </a:r>
            <a:r>
              <a:rPr sz="1200" b="1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(ИиППО)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  <a:p>
            <a:pPr marL="181610" algn="ctr">
              <a:lnSpc>
                <a:spcPct val="100000"/>
              </a:lnSpc>
              <a:spcBef>
                <a:spcPts val="45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КУРСОВАЯ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РАБОТА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1400" spc="10" dirty="0">
                <a:latin typeface="Times New Roman" panose="02020603050405020304"/>
                <a:cs typeface="Times New Roman" panose="02020603050405020304"/>
              </a:rPr>
              <a:t>по</a:t>
            </a:r>
            <a:r>
              <a:rPr sz="14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дисциплине:</a:t>
            </a:r>
            <a:r>
              <a:rPr sz="14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1400" spc="10" dirty="0" err="1">
                <a:latin typeface="Times New Roman" panose="02020603050405020304"/>
                <a:cs typeface="Times New Roman" panose="02020603050405020304"/>
              </a:rPr>
              <a:t>Фронтенд</a:t>
            </a:r>
            <a:r>
              <a:rPr lang="ru-RU" sz="1400" spc="10" dirty="0">
                <a:latin typeface="Times New Roman" panose="02020603050405020304"/>
                <a:cs typeface="Times New Roman" panose="02020603050405020304"/>
              </a:rPr>
              <a:t>-разработка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  <a:p>
            <a:pPr marL="26035" algn="ctr">
              <a:lnSpc>
                <a:spcPct val="100000"/>
              </a:lnSpc>
              <a:spcBef>
                <a:spcPts val="76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Тема: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Клиентская часть веб-приложения для интерактивного планирования туристических поездок</a:t>
            </a:r>
          </a:p>
          <a:p>
            <a:pPr marL="26035" algn="l">
              <a:lnSpc>
                <a:spcPct val="100000"/>
              </a:lnSpc>
              <a:spcBef>
                <a:spcPts val="760"/>
              </a:spcBef>
            </a:pPr>
            <a:r>
              <a:rPr sz="1400" dirty="0" err="1">
                <a:latin typeface="Times New Roman" panose="02020603050405020304"/>
                <a:cs typeface="Times New Roman" panose="02020603050405020304"/>
              </a:rPr>
              <a:t>Студент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1400" spc="-30" dirty="0">
                <a:latin typeface="Times New Roman" panose="02020603050405020304"/>
                <a:cs typeface="Times New Roman" panose="02020603050405020304"/>
              </a:rPr>
              <a:t>Чудаев Иван Сергеевич</a:t>
            </a:r>
            <a:endParaRPr lang="ru-RU" sz="1400" spc="-35" dirty="0">
              <a:latin typeface="Times New Roman" panose="02020603050405020304"/>
              <a:cs typeface="Times New Roman" panose="02020603050405020304"/>
            </a:endParaRPr>
          </a:p>
          <a:p>
            <a:pPr marL="12700" marR="3762375">
              <a:lnSpc>
                <a:spcPct val="100000"/>
              </a:lnSpc>
              <a:spcBef>
                <a:spcPts val="745"/>
              </a:spcBef>
            </a:pPr>
            <a:r>
              <a:rPr sz="1400" dirty="0" err="1">
                <a:latin typeface="Times New Roman" panose="02020603050405020304"/>
                <a:cs typeface="Times New Roman" panose="02020603050405020304"/>
              </a:rPr>
              <a:t>Группа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1400" spc="-40" dirty="0">
                <a:latin typeface="Times New Roman" panose="02020603050405020304"/>
                <a:cs typeface="Times New Roman" panose="02020603050405020304"/>
              </a:rPr>
              <a:t>ИКБО-10-24</a:t>
            </a:r>
          </a:p>
          <a:p>
            <a:pPr marL="12700" marR="3762375">
              <a:lnSpc>
                <a:spcPct val="100000"/>
              </a:lnSpc>
              <a:spcBef>
                <a:spcPts val="745"/>
              </a:spcBef>
            </a:pPr>
            <a:r>
              <a:rPr sz="1400" dirty="0" err="1">
                <a:latin typeface="Times New Roman" panose="02020603050405020304"/>
                <a:cs typeface="Times New Roman" panose="02020603050405020304"/>
              </a:rPr>
              <a:t>Руководитель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старший </a:t>
            </a:r>
            <a:r>
              <a:rPr sz="1400" spc="-10" dirty="0" err="1">
                <a:latin typeface="Times New Roman" panose="02020603050405020304"/>
                <a:cs typeface="Times New Roman" panose="02020603050405020304"/>
              </a:rPr>
              <a:t>преподаватель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1400" spc="-50" dirty="0">
                <a:latin typeface="Times New Roman" panose="02020603050405020304"/>
                <a:cs typeface="Times New Roman" panose="02020603050405020304"/>
              </a:rPr>
              <a:t>Братусь Надежда Валерьевна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 panose="02020603050405020304"/>
              <a:cs typeface="Times New Roman" panose="02020603050405020304"/>
            </a:endParaRPr>
          </a:p>
          <a:p>
            <a:pPr marL="179705" algn="ctr">
              <a:lnSpc>
                <a:spcPct val="100000"/>
              </a:lnSpc>
            </a:pPr>
            <a:r>
              <a:rPr sz="1400" dirty="0" err="1">
                <a:latin typeface="Times New Roman" panose="02020603050405020304"/>
                <a:cs typeface="Times New Roman" panose="02020603050405020304"/>
              </a:rPr>
              <a:t>Москва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202</a:t>
            </a:r>
            <a:r>
              <a:rPr lang="ru-RU" sz="1400" spc="-20" dirty="0">
                <a:latin typeface="Times New Roman" panose="02020603050405020304"/>
                <a:cs typeface="Times New Roman" panose="02020603050405020304"/>
              </a:rPr>
              <a:t>6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13101" y="1302215"/>
          <a:ext cx="4717415" cy="903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370">
                <a:tc>
                  <a:txBody>
                    <a:bodyPr/>
                    <a:lstStyle/>
                    <a:p>
                      <a:pPr marL="635" algn="ctr">
                        <a:lnSpc>
                          <a:spcPts val="1210"/>
                        </a:lnSpc>
                      </a:pP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МИНОБРНАУКИ</a:t>
                      </a:r>
                      <a:r>
                        <a:rPr sz="1200" spc="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РОССИИ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31750" marR="24130" algn="ctr">
                        <a:lnSpc>
                          <a:spcPts val="13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Федеральное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государственное</a:t>
                      </a:r>
                      <a:r>
                        <a:rPr sz="1200" spc="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бюджетное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образовательное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учреждение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высшего</a:t>
                      </a:r>
                      <a:r>
                        <a:rPr sz="12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образования</a:t>
                      </a: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60"/>
                        </a:lnSpc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«МИРЭА</a:t>
                      </a:r>
                      <a:r>
                        <a:rPr sz="1200" b="1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–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Российский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технологический университет»</a:t>
                      </a: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ts val="1835"/>
                        </a:lnSpc>
                      </a:pPr>
                      <a:r>
                        <a:rPr sz="1600" b="1" dirty="0">
                          <a:latin typeface="Times New Roman" panose="02020603050405020304"/>
                          <a:cs typeface="Times New Roman" panose="02020603050405020304"/>
                        </a:rPr>
                        <a:t>РТУ</a:t>
                      </a:r>
                      <a:r>
                        <a:rPr sz="16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00" b="1" spc="-10" dirty="0">
                          <a:latin typeface="Times New Roman" panose="02020603050405020304"/>
                          <a:cs typeface="Times New Roman" panose="02020603050405020304"/>
                        </a:rPr>
                        <a:t>МИРЭА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A747EF6-9238-3DF6-54F1-66E4B4C64F10}"/>
              </a:ext>
            </a:extLst>
          </p:cNvPr>
          <p:cNvSpPr/>
          <p:nvPr/>
        </p:nvSpPr>
        <p:spPr>
          <a:xfrm>
            <a:off x="-76200" y="-95250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49046" y="804799"/>
            <a:ext cx="8213954" cy="33143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0">
              <a:lnSpc>
                <a:spcPct val="100000"/>
              </a:lnSpc>
              <a:spcBef>
                <a:spcPts val="105"/>
              </a:spcBef>
            </a:pPr>
            <a:r>
              <a:rPr sz="2000" b="1" spc="-20" dirty="0" err="1">
                <a:latin typeface="Times New Roman" panose="02020603050405020304"/>
                <a:cs typeface="Times New Roman" panose="02020603050405020304"/>
              </a:rPr>
              <a:t>Цель</a:t>
            </a:r>
            <a:r>
              <a:rPr lang="en-US" sz="2000" b="1" spc="-20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58420">
              <a:lnSpc>
                <a:spcPct val="100000"/>
              </a:lnSpc>
              <a:spcBef>
                <a:spcPts val="2215"/>
              </a:spcBef>
            </a:pP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азработать клиентскую часть веб-приложения для интерактивного планирования туристических поездок</a:t>
            </a:r>
            <a:r>
              <a:rPr lang="ru-RU" sz="1400" dirty="0">
                <a:latin typeface="Times New Roman" panose="02020603050405020304"/>
                <a:cs typeface="Times New Roman" panose="02020603050405020304"/>
              </a:rPr>
              <a:t>. </a:t>
            </a: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lang="ru-RU" sz="1400" dirty="0">
              <a:latin typeface="Times New Roman" panose="02020603050405020304"/>
              <a:cs typeface="Times New Roman" panose="02020603050405020304"/>
            </a:endParaRPr>
          </a:p>
          <a:p>
            <a:pPr marL="3513455" algn="just">
              <a:lnSpc>
                <a:spcPct val="100000"/>
              </a:lnSpc>
            </a:pPr>
            <a:r>
              <a:rPr sz="2000" b="1" spc="-10" dirty="0" err="1">
                <a:latin typeface="Times New Roman" panose="02020603050405020304"/>
                <a:cs typeface="Times New Roman" panose="02020603050405020304"/>
              </a:rPr>
              <a:t>Задачи</a:t>
            </a:r>
            <a:r>
              <a:rPr lang="en-US" sz="2000" b="1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аналогов и обосновать выбор технологий;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спроектировать интерфейс и реализовать адаптивную верстку;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основные модули приложения;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интегрировать внешнее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получения информации о 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погоде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опубликовать клиентскую часть менеджера задач на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" marR="5080" indent="0">
              <a:lnSpc>
                <a:spcPct val="100000"/>
              </a:lnSpc>
              <a:buNone/>
              <a:tabLst>
                <a:tab pos="355600" algn="l"/>
              </a:tabLst>
            </a:pPr>
            <a:endParaRPr lang="en-US" altLang="en-US" sz="1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3D5F055-7C4E-9FB9-DE6F-A664EC61591C}"/>
              </a:ext>
            </a:extLst>
          </p:cNvPr>
          <p:cNvSpPr/>
          <p:nvPr/>
        </p:nvSpPr>
        <p:spPr>
          <a:xfrm>
            <a:off x="-76200" y="-95250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1472" y="393826"/>
            <a:ext cx="57058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Анализ</a:t>
            </a:r>
            <a:r>
              <a:rPr sz="2000" b="1" spc="-4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предметной</a:t>
            </a:r>
            <a:r>
              <a:rPr sz="2000" b="1" spc="-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области</a:t>
            </a:r>
            <a:r>
              <a:rPr lang="ru-RU" sz="2000" b="1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и существующих решений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3" name="AutoShape 4" descr="Picture background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7A149E33-616A-A4D0-B514-FF7E6DE40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6823"/>
            <a:ext cx="6858000" cy="992347"/>
          </a:xfrm>
          <a:prstGeom prst="rect">
            <a:avLst/>
          </a:prstGeom>
        </p:spPr>
      </p:pic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9BD8D0EA-455D-9F29-A802-EE44FCE97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693" y="2286348"/>
            <a:ext cx="5003813" cy="263873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0044F7-B3FE-027A-0460-782651B5FBFE}"/>
              </a:ext>
            </a:extLst>
          </p:cNvPr>
          <p:cNvSpPr/>
          <p:nvPr/>
        </p:nvSpPr>
        <p:spPr>
          <a:xfrm>
            <a:off x="-76200" y="-95250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5267" y="608457"/>
            <a:ext cx="3092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Используемые</a:t>
            </a:r>
            <a:r>
              <a:rPr sz="2000" b="1" spc="-9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технологии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15BE4381-A450-6932-3792-4B22CC2059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3853" y="1715951"/>
            <a:ext cx="178740" cy="17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 descr="Picture background">
            <a:extLst>
              <a:ext uri="{FF2B5EF4-FFF2-40B4-BE49-F238E27FC236}">
                <a16:creationId xmlns:a16="http://schemas.microsoft.com/office/drawing/2014/main" id="{BBBA8EA0-14C7-494E-6CB9-29980C0BD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8" r="20991"/>
          <a:stretch/>
        </p:blipFill>
        <p:spPr bwMode="auto">
          <a:xfrm>
            <a:off x="4876800" y="1592283"/>
            <a:ext cx="2130805" cy="247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icture background">
            <a:extLst>
              <a:ext uri="{FF2B5EF4-FFF2-40B4-BE49-F238E27FC236}">
                <a16:creationId xmlns:a16="http://schemas.microsoft.com/office/drawing/2014/main" id="{AEB8CAA1-8B3F-7AA7-33B6-F8BD1AF0F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7" y="1664297"/>
            <a:ext cx="2429288" cy="242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cture background">
            <a:extLst>
              <a:ext uri="{FF2B5EF4-FFF2-40B4-BE49-F238E27FC236}">
                <a16:creationId xmlns:a16="http://schemas.microsoft.com/office/drawing/2014/main" id="{02C18A84-2FFE-61C0-7FF5-986DE0F44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37" y="1488878"/>
            <a:ext cx="1964056" cy="268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4" descr="Picture background">
            <a:extLst>
              <a:ext uri="{FF2B5EF4-FFF2-40B4-BE49-F238E27FC236}">
                <a16:creationId xmlns:a16="http://schemas.microsoft.com/office/drawing/2014/main" id="{E2E3BCCC-6177-46BE-9FE6-397893D166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39693" y="25741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64" name="Picture 16" descr="Picture background">
            <a:extLst>
              <a:ext uri="{FF2B5EF4-FFF2-40B4-BE49-F238E27FC236}">
                <a16:creationId xmlns:a16="http://schemas.microsoft.com/office/drawing/2014/main" id="{F8D0F83D-5126-E9B4-4949-398312E31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500" y="1821840"/>
            <a:ext cx="2400646" cy="24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3A01F3-3AB6-797C-7B41-35F06F432B2E}"/>
              </a:ext>
            </a:extLst>
          </p:cNvPr>
          <p:cNvSpPr/>
          <p:nvPr/>
        </p:nvSpPr>
        <p:spPr>
          <a:xfrm>
            <a:off x="-76200" y="-95250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2133600" y="243966"/>
            <a:ext cx="5936107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4610" marR="5080" indent="-1312545">
              <a:lnSpc>
                <a:spcPct val="100000"/>
              </a:lnSpc>
              <a:spcBef>
                <a:spcPts val="105"/>
              </a:spcBef>
            </a:pPr>
            <a:r>
              <a:rPr lang="ru-RU" sz="2000" b="1" dirty="0">
                <a:latin typeface="Times New Roman" panose="02020603050405020304"/>
                <a:cs typeface="Times New Roman" panose="02020603050405020304"/>
              </a:rPr>
              <a:t>Проектирование интерфейса в графическом редакторе 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Figma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BA8B5-61CB-28E9-F834-C15F34789F77}"/>
              </a:ext>
            </a:extLst>
          </p:cNvPr>
          <p:cNvSpPr txBox="1"/>
          <p:nvPr/>
        </p:nvSpPr>
        <p:spPr>
          <a:xfrm>
            <a:off x="152400" y="1047750"/>
            <a:ext cx="2971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Макет главной страницы в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34A48A-2774-C6A1-6569-EB399E74C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183" y="1047750"/>
            <a:ext cx="5542530" cy="344634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46A7E7-D08A-7062-0D1F-EA9203A7B9AC}"/>
              </a:ext>
            </a:extLst>
          </p:cNvPr>
          <p:cNvSpPr/>
          <p:nvPr/>
        </p:nvSpPr>
        <p:spPr>
          <a:xfrm>
            <a:off x="-76583" y="-304907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6600" y="113350"/>
            <a:ext cx="31413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/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проекта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937E8-DF1D-D473-A933-634CE9B1279E}"/>
              </a:ext>
            </a:extLst>
          </p:cNvPr>
          <p:cNvSpPr txBox="1"/>
          <p:nvPr/>
        </p:nvSpPr>
        <p:spPr>
          <a:xfrm>
            <a:off x="4847272" y="1140589"/>
            <a:ext cx="34271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Подобная структура согласуется с принципами ООП и разделения ответственности. Каждый модуль выполняет одну задачу, а взаимодействие между ними происходит через четко определенные методы. Это уменьшает связанность кода и облегчает возможное расширение проекта в будущем.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6624AC-73D4-8FAB-9AE9-35D0A05F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2059"/>
            <a:ext cx="3657600" cy="29813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668128-5F24-D2D0-E0CE-21F61A543734}"/>
              </a:ext>
            </a:extLst>
          </p:cNvPr>
          <p:cNvSpPr/>
          <p:nvPr/>
        </p:nvSpPr>
        <p:spPr>
          <a:xfrm>
            <a:off x="-76200" y="-291383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69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6600" y="113350"/>
            <a:ext cx="419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Погода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внешнее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7F4A7-6A28-10CE-285E-930602E7855B}"/>
              </a:ext>
            </a:extLst>
          </p:cNvPr>
          <p:cNvSpPr txBox="1"/>
          <p:nvPr/>
        </p:nvSpPr>
        <p:spPr>
          <a:xfrm>
            <a:off x="320140" y="667233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Погодный блок использует внешний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локальный сервер. Сначала сервер получает координаты города, затем запрашивает прогноз у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возвращает клиенту информацию в упрощенном виде.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88B489-7F14-A121-A6E0-FCF9972B5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07" y="2421559"/>
            <a:ext cx="8461666" cy="21336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81ED1F-23A3-5ACF-63A0-F84D5EBAD375}"/>
              </a:ext>
            </a:extLst>
          </p:cNvPr>
          <p:cNvSpPr/>
          <p:nvPr/>
        </p:nvSpPr>
        <p:spPr>
          <a:xfrm>
            <a:off x="-228600" y="-668122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864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2781" y="78375"/>
            <a:ext cx="2738438" cy="3311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Демонстрация</a:t>
            </a:r>
            <a:r>
              <a:rPr sz="2000" b="1" spc="-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работы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B3BBF-2583-1DA0-2719-2FA270317F69}"/>
              </a:ext>
            </a:extLst>
          </p:cNvPr>
          <p:cNvSpPr txBox="1"/>
          <p:nvPr/>
        </p:nvSpPr>
        <p:spPr>
          <a:xfrm>
            <a:off x="381000" y="3986112"/>
            <a:ext cx="8651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 веб-приложения менеджера задач развёрнута на платформе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доступна по адресу: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https://ijne.github.io/Globe/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5390E3-132B-8D20-59B9-12F6E0176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742950"/>
            <a:ext cx="5180964" cy="259984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D6E62F-1964-E059-E5B5-C7CDDA9FE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1210"/>
            <a:ext cx="2505709" cy="314331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5775A9-EC68-EC8E-375F-9185746E9E26}"/>
              </a:ext>
            </a:extLst>
          </p:cNvPr>
          <p:cNvSpPr/>
          <p:nvPr/>
        </p:nvSpPr>
        <p:spPr>
          <a:xfrm>
            <a:off x="-219709" y="-698733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46633" y="819657"/>
            <a:ext cx="8087767" cy="23730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4660">
              <a:lnSpc>
                <a:spcPct val="100000"/>
              </a:lnSpc>
              <a:spcBef>
                <a:spcPts val="105"/>
              </a:spcBef>
            </a:pPr>
            <a:r>
              <a:rPr dirty="0" err="1"/>
              <a:t>Результаты</a:t>
            </a:r>
            <a:r>
              <a:rPr spc="-60" dirty="0"/>
              <a:t> </a:t>
            </a:r>
            <a:r>
              <a:rPr spc="-10" dirty="0" err="1"/>
              <a:t>работы</a:t>
            </a:r>
            <a:endParaRPr lang="en-US" spc="-10" dirty="0"/>
          </a:p>
          <a:p>
            <a:pPr marL="2994660">
              <a:lnSpc>
                <a:spcPct val="100000"/>
              </a:lnSpc>
              <a:spcBef>
                <a:spcPts val="105"/>
              </a:spcBef>
            </a:pPr>
            <a:endParaRPr spc="-10" dirty="0"/>
          </a:p>
          <a:p>
            <a:pPr marL="299085" indent="-286385">
              <a:lnSpc>
                <a:spcPct val="100000"/>
              </a:lnSpc>
              <a:spcBef>
                <a:spcPts val="1860"/>
              </a:spcBef>
              <a:buFont typeface="Arial MT"/>
              <a:buChar char="•"/>
              <a:tabLst>
                <a:tab pos="299085" algn="l"/>
              </a:tabLst>
            </a:pPr>
            <a:r>
              <a:rPr lang="ru-RU" sz="1400" b="0" dirty="0">
                <a:latin typeface="Times New Roman" panose="02020603050405020304"/>
                <a:cs typeface="Times New Roman" panose="02020603050405020304"/>
              </a:rPr>
              <a:t>Была разработана клиентская часть </a:t>
            </a:r>
            <a:r>
              <a:rPr lang="ru-RU" sz="1400" b="0" dirty="0"/>
              <a:t>веб-приложения планирования путешествий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299085" algn="l"/>
              </a:tabLst>
            </a:pPr>
            <a:r>
              <a:rPr lang="ru-RU" sz="1400" b="0" spc="-10" dirty="0"/>
              <a:t>Проведен анализ аналогичных решений</a:t>
            </a:r>
          </a:p>
          <a:p>
            <a:pPr marL="299085" indent="-286385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299085" algn="l"/>
              </a:tabLst>
            </a:pPr>
            <a:r>
              <a:rPr lang="ru-RU" sz="1400" b="0" spc="-10" dirty="0"/>
              <a:t>Спроектирован дизайн клиентской части в </a:t>
            </a:r>
            <a:r>
              <a:rPr lang="en-US" sz="1400" b="0" spc="-10" dirty="0"/>
              <a:t>Figma</a:t>
            </a:r>
          </a:p>
          <a:p>
            <a:pPr marL="299085" indent="-286385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299085" algn="l"/>
              </a:tabLst>
            </a:pPr>
            <a:r>
              <a:rPr lang="ru-RU" sz="1400" b="0" spc="-10" dirty="0"/>
              <a:t>Интегрировано внешнее </a:t>
            </a:r>
            <a:r>
              <a:rPr lang="en-US" sz="1400" b="0" spc="-10" dirty="0"/>
              <a:t>API </a:t>
            </a:r>
            <a:r>
              <a:rPr lang="ru-RU" sz="1400" b="0" spc="-10" dirty="0"/>
              <a:t>для отображения информации о погоде</a:t>
            </a:r>
            <a:endParaRPr sz="1400" b="0" dirty="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lang="ru-RU" sz="1400" b="0" dirty="0">
                <a:latin typeface="Times New Roman" panose="02020603050405020304"/>
                <a:cs typeface="Times New Roman" panose="02020603050405020304"/>
              </a:rPr>
              <a:t>Исходный </a:t>
            </a:r>
            <a:r>
              <a:rPr lang="ru-RU" sz="1400" b="0" dirty="0"/>
              <a:t>к</a:t>
            </a:r>
            <a:r>
              <a:rPr sz="1400" b="0" dirty="0" err="1">
                <a:latin typeface="Times New Roman" panose="02020603050405020304"/>
                <a:cs typeface="Times New Roman" panose="02020603050405020304"/>
              </a:rPr>
              <a:t>од</a:t>
            </a:r>
            <a:r>
              <a:rPr sz="1400" b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0" dirty="0">
                <a:latin typeface="Times New Roman" panose="02020603050405020304"/>
                <a:cs typeface="Times New Roman" panose="02020603050405020304"/>
              </a:rPr>
              <a:t>проекта</a:t>
            </a:r>
            <a:r>
              <a:rPr sz="1400" b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0" dirty="0">
                <a:latin typeface="Times New Roman" panose="02020603050405020304"/>
                <a:cs typeface="Times New Roman" panose="02020603050405020304"/>
              </a:rPr>
              <a:t>доступен</a:t>
            </a:r>
            <a:r>
              <a:rPr sz="1400" b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0" dirty="0" err="1">
                <a:latin typeface="Times New Roman" panose="02020603050405020304"/>
                <a:cs typeface="Times New Roman" panose="02020603050405020304"/>
              </a:rPr>
              <a:t>по</a:t>
            </a:r>
            <a:r>
              <a:rPr sz="1400" b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0" dirty="0" err="1">
                <a:latin typeface="Times New Roman" panose="02020603050405020304"/>
                <a:cs typeface="Times New Roman" panose="02020603050405020304"/>
              </a:rPr>
              <a:t>адресу</a:t>
            </a:r>
            <a:r>
              <a:rPr lang="en-US" sz="1400" b="0" dirty="0"/>
              <a:t>:</a:t>
            </a:r>
            <a:r>
              <a:rPr sz="1400" b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400" b="0" spc="-10" dirty="0">
                <a:latin typeface="Times New Roman" panose="02020603050405020304"/>
                <a:cs typeface="Times New Roman" panose="02020603050405020304"/>
              </a:rPr>
              <a:t>https://github.com/Ijne/Globe</a:t>
            </a:r>
            <a:endParaRPr sz="1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545F95-E296-5909-92E5-070F6C3857C2}"/>
              </a:ext>
            </a:extLst>
          </p:cNvPr>
          <p:cNvSpPr/>
          <p:nvPr/>
        </p:nvSpPr>
        <p:spPr>
          <a:xfrm>
            <a:off x="-76200" y="-95250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53AA9-A173-93AF-C347-46D72FF6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243966"/>
            <a:ext cx="1318260" cy="27699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11806F-6E67-F273-34E9-1EA98CA8A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9989" y="2294751"/>
            <a:ext cx="6164022" cy="553998"/>
          </a:xfrm>
        </p:spPr>
        <p:txBody>
          <a:bodyPr/>
          <a:lstStyle/>
          <a:p>
            <a:r>
              <a:rPr lang="ru-RU" sz="3600" dirty="0"/>
              <a:t>СПАСИБО ЗА ВНИМАНИЕ!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468301-291F-AB68-F221-C8ADAC3D95B9}"/>
              </a:ext>
            </a:extLst>
          </p:cNvPr>
          <p:cNvSpPr/>
          <p:nvPr/>
        </p:nvSpPr>
        <p:spPr>
          <a:xfrm>
            <a:off x="-76200" y="-95250"/>
            <a:ext cx="1524000" cy="139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875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297</Words>
  <Application>Microsoft Office PowerPoint</Application>
  <PresentationFormat>Экран (16:9)</PresentationFormat>
  <Paragraphs>50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Roboto</vt:lpstr>
      <vt:lpstr>Times New Roman</vt:lpstr>
      <vt:lpstr>Office Theme</vt:lpstr>
      <vt:lpstr>Презентация PowerPoint</vt:lpstr>
      <vt:lpstr>Презентация PowerPoint</vt:lpstr>
      <vt:lpstr>Анализ предметной области и существующих решений</vt:lpstr>
      <vt:lpstr>Используемые технологии</vt:lpstr>
      <vt:lpstr>Презентация PowerPoint</vt:lpstr>
      <vt:lpstr>Архитектура проекта</vt:lpstr>
      <vt:lpstr>Погода через внешнее API</vt:lpstr>
      <vt:lpstr>Демонстрация работы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 Зотеев</dc:creator>
  <cp:lastModifiedBy>Office</cp:lastModifiedBy>
  <cp:revision>15</cp:revision>
  <dcterms:created xsi:type="dcterms:W3CDTF">2025-11-06T11:27:00Z</dcterms:created>
  <dcterms:modified xsi:type="dcterms:W3CDTF">2026-06-09T18:28:53Z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2025-10-23T09:00:00Z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2025-11-06T09:00:00Z</vt:filetime>
  </property>
  <property fmtid="{D5CDD505-2E9C-101B-9397-08002B2CF9AE}" pid="5" name="Producer">
    <vt:lpwstr>Microsoft® PowerPoint® 2021</vt:lpwstr>
  </property>
  <property fmtid="{D5CDD505-2E9C-101B-9397-08002B2CF9AE}" pid="6" name="ICV">
    <vt:lpwstr>F93CEB905F9944B7855371BE85D10BBC_12</vt:lpwstr>
  </property>
  <property fmtid="{D5CDD505-2E9C-101B-9397-08002B2CF9AE}" pid="7" name="KSOProductBuildVer">
    <vt:lpwstr>1049-12.2.0.23155</vt:lpwstr>
  </property>
</Properties>
</file>